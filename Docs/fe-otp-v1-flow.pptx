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5875">
            <a:solidFill>
              <a:srgbClr val="F7F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0">
                <a:solidFill>
                  <a:srgbClr val="212121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3355"/>
                </a:solidFill>
              </a:defRPr>
            </a:pPr>
            <a:r>
              <a:t>FE OTP — Two-Factor Auth (V1)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9572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6677"/>
                </a:solidFill>
              </a:defRPr>
            </a:pPr>
            <a:r>
              <a:t>TOTP + single-use recovery codes  ·  /securefs unlock gate  ·  red variant  ·  SCLI-driven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3246120"/>
            <a:ext cx="905256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0">
                <a:solidFill>
                  <a:srgbClr val="212121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874519" y="3401568"/>
            <a:ext cx="8503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</a:defRPr>
            </a:pPr>
            <a:r>
              <a:t>•  2FA = PIN2 (something you know) + TOTP from an external authenticator app (something you have)</a:t>
            </a:r>
          </a:p>
          <a:p>
            <a:pPr algn="l">
              <a:defRPr sz="1500" b="0">
                <a:solidFill>
                  <a:srgbClr val="212121"/>
                </a:solidFill>
              </a:defRPr>
            </a:pPr>
            <a:r>
              <a:t>•  Local verification only — no server; the OTP seed is TPM-sealed (per A/B bank)</a:t>
            </a:r>
          </a:p>
          <a:p>
            <a:pPr algn="l">
              <a:defRPr sz="1500" b="0">
                <a:solidFill>
                  <a:srgbClr val="212121"/>
                </a:solidFill>
              </a:defRPr>
            </a:pPr>
            <a:r>
              <a:t>•  OTP is an authorization GATE (pass/fail) — NOT key material</a:t>
            </a:r>
          </a:p>
          <a:p>
            <a:pPr algn="l">
              <a:defRPr sz="1500" b="0">
                <a:solidFill>
                  <a:srgbClr val="212121"/>
                </a:solidFill>
              </a:defRPr>
            </a:pPr>
            <a:r>
              <a:t>•  FE KEK = submask_A_FE(PIN2) ⊕ submask_B(TPM)  —  Inner DAR, separate from Outer FDE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E9E9E"/>
                </a:solidFill>
              </a:defRPr>
            </a:pPr>
            <a:r>
              <a:t>branch: fe-otp-2fa   ·   core: gocryptfs-fe.sh, fe-otp.sh   ·   front-end: security fe 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355"/>
                </a:solidFill>
              </a:defRPr>
            </a:pPr>
            <a:r>
              <a:t>Components &amp; Trust Boundary</a:t>
            </a:r>
          </a:p>
          <a:p>
            <a:pPr>
              <a:defRPr sz="1250">
                <a:solidFill>
                  <a:srgbClr val="556677"/>
                </a:solidFill>
              </a:defRPr>
            </a:pPr>
            <a:r>
              <a:t>external authenticator app  ·  SCLI front-end  ·  core scripts  ·  TPM  ·  gocryptfs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30000" cy="3175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331720"/>
            <a:ext cx="2514600" cy="1371600"/>
          </a:xfrm>
          <a:prstGeom prst="roundRect">
            <a:avLst/>
          </a:prstGeom>
          <a:solidFill>
            <a:srgbClr val="FFE0B2"/>
          </a:solidFill>
          <a:ln w="15875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External device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Authenticator app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(Google / Microsoft)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TOTP generator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325880"/>
            <a:ext cx="8458200" cy="5029200"/>
          </a:xfrm>
          <a:prstGeom prst="roundRect">
            <a:avLst/>
          </a:prstGeom>
          <a:noFill/>
          <a:ln w="19050">
            <a:solidFill>
              <a:srgbClr val="1F335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defRPr sz="1100" b="1">
                <a:solidFill>
                  <a:srgbClr val="1F3355"/>
                </a:solidFill>
              </a:defRPr>
            </a:pPr>
            <a:r>
              <a:t>  Shiba device  —  core protected by secure-boot + dm-verity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920240"/>
            <a:ext cx="2743200" cy="1051560"/>
          </a:xfrm>
          <a:prstGeom prst="roundRect">
            <a:avLst/>
          </a:prstGeom>
          <a:solidFill>
            <a:srgbClr val="BBDEFB"/>
          </a:solidFill>
          <a:ln w="15875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SCLI front-end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security fe …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(TTY no-echo → stdin)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920240"/>
            <a:ext cx="2331720" cy="1051560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gocryptfs-fe.sh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init / start / stop / status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KEK + mount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920240"/>
            <a:ext cx="2240280" cy="1051560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fe-otp.sh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enroll / verify / status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TOTP + recovery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3611880"/>
            <a:ext cx="2743200" cy="1188720"/>
          </a:xfrm>
          <a:prstGeom prst="roundRect">
            <a:avLst/>
          </a:prstGeom>
          <a:solidFill>
            <a:srgbClr val="CFD8DC"/>
          </a:solidFill>
          <a:ln w="15875">
            <a:solidFill>
              <a:srgbClr val="546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gocryptfs /securefs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cipher: /var/.securefs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mount: /securefs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611880"/>
            <a:ext cx="2331720" cy="1280160"/>
          </a:xfrm>
          <a:prstGeom prst="roundRect">
            <a:avLst/>
          </a:prstGeom>
          <a:solidFill>
            <a:srgbClr val="E1BEE7"/>
          </a:solidFill>
          <a:ln w="15875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TPM (ST33)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seal FE blob + OTP seed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per A/B bank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PolicyNV + PolicyPCR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3611880"/>
            <a:ext cx="2240280" cy="128016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/var/lib/fe-otp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last_step, fails,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lock_until, recovery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(on FDE overlay)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423160"/>
            <a:ext cx="685800" cy="0"/>
          </a:xfrm>
          <a:prstGeom prst="line">
            <a:avLst/>
          </a:prstGeom>
          <a:ln w="22225">
            <a:solidFill>
              <a:srgbClr val="E6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97480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7474F"/>
                </a:solidFill>
              </a:defRPr>
            </a:pPr>
            <a:r>
              <a:t>operator enters</a:t>
            </a:r>
          </a:p>
          <a:p>
            <a:pPr algn="ctr">
              <a:defRPr sz="900" b="0">
                <a:solidFill>
                  <a:srgbClr val="37474F"/>
                </a:solidFill>
              </a:defRPr>
            </a:pPr>
            <a:r>
              <a:t>PIN2 + OTP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55080" y="2377440"/>
            <a:ext cx="548640" cy="0"/>
          </a:xfrm>
          <a:prstGeom prst="line">
            <a:avLst/>
          </a:prstGeom>
          <a:ln w="19050">
            <a:solidFill>
              <a:srgbClr val="1976D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99632" y="1481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7474F"/>
                </a:solidFill>
              </a:defRPr>
            </a:pPr>
            <a:r>
              <a:t>stdin:</a:t>
            </a:r>
          </a:p>
          <a:p>
            <a:pPr algn="ctr">
              <a:defRPr sz="900" b="0">
                <a:solidFill>
                  <a:srgbClr val="37474F"/>
                </a:solidFill>
              </a:defRPr>
            </a:pPr>
            <a:r>
              <a:t>PIN2, OTP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35440" y="2450592"/>
            <a:ext cx="182880" cy="0"/>
          </a:xfrm>
          <a:prstGeom prst="line">
            <a:avLst/>
          </a:prstGeom>
          <a:ln w="19050">
            <a:solidFill>
              <a:srgbClr val="388E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6968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7474F"/>
                </a:solidFill>
              </a:defRPr>
            </a:pPr>
            <a:r>
              <a:t>OTP→verify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46720" y="2971800"/>
            <a:ext cx="0" cy="640080"/>
          </a:xfrm>
          <a:prstGeom prst="line">
            <a:avLst/>
          </a:prstGeom>
          <a:ln w="19050">
            <a:solidFill>
              <a:srgbClr val="388E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9244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74F"/>
                </a:solidFill>
              </a:defRPr>
            </a:pPr>
            <a:r>
              <a:t>unseal</a:t>
            </a:r>
          </a:p>
          <a:p>
            <a:pPr algn="l">
              <a:defRPr sz="800" b="0">
                <a:solidFill>
                  <a:srgbClr val="37474F"/>
                </a:solidFill>
              </a:defRPr>
            </a:pPr>
            <a:r>
              <a:t>submask_B / seed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355080" y="2697480"/>
            <a:ext cx="548640" cy="914400"/>
          </a:xfrm>
          <a:prstGeom prst="line">
            <a:avLst/>
          </a:prstGeom>
          <a:ln w="19050">
            <a:solidFill>
              <a:srgbClr val="388E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89320" y="3063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7474F"/>
                </a:solidFill>
              </a:defRPr>
            </a:pPr>
            <a:r>
              <a:t>mount</a:t>
            </a:r>
          </a:p>
          <a:p>
            <a:pPr algn="ctr">
              <a:defRPr sz="850" b="0">
                <a:solidFill>
                  <a:srgbClr val="37474F"/>
                </a:solidFill>
              </a:defRPr>
            </a:pPr>
            <a:r>
              <a:t>(KEK)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15600" y="2971800"/>
            <a:ext cx="0" cy="640080"/>
          </a:xfrm>
          <a:prstGeom prst="line">
            <a:avLst/>
          </a:prstGeom>
          <a:ln w="19050">
            <a:solidFill>
              <a:srgbClr val="F9A82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355"/>
                </a:solidFill>
              </a:defRPr>
            </a:pPr>
            <a:r>
              <a:t>Enrollment  —  security fe otp enroll</a:t>
            </a:r>
          </a:p>
          <a:p>
            <a:pPr>
              <a:defRPr sz="1250">
                <a:solidFill>
                  <a:srgbClr val="556677"/>
                </a:solidFill>
              </a:defRPr>
            </a:pPr>
            <a:r>
              <a:t>one-time: generate + TPM-seal the OTP seed, then show QR + recovery codes ONCE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30000" cy="3175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7315200" cy="530352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①  tpm_setup → select per-bank seed handle  (0x81020022 / 0x81020023)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38528"/>
            <a:ext cx="7315200" cy="530352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②  generate FE salt (32B) + seed (64B from /dev/urandom)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1810512"/>
            <a:ext cx="0" cy="128016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2596896"/>
            <a:ext cx="7315200" cy="530352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③  blob = salt(32) ‖ seed(64)     (reuses FDE sealed-blob format)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0" y="2468879"/>
            <a:ext cx="0" cy="128017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255263"/>
            <a:ext cx="7315200" cy="530352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④  TPM-seal blob @ handle  —  PolicyNV(0x01500000) + PolicyPCR(sha384:1,4,5,8)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80160" y="3127247"/>
            <a:ext cx="0" cy="128016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913631"/>
            <a:ext cx="7315200" cy="530352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⑤  seed → Base32 → otpauth:// URI   (algorithm=SHA1, digits=6, period=30)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3785615"/>
            <a:ext cx="0" cy="128016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4571999"/>
            <a:ext cx="7315200" cy="65836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⑥  print QR (qrencode) + Base32 + 10 recovery codes</a:t>
            </a:r>
          </a:p>
          <a:p>
            <a:pPr algn="l">
              <a:defRPr sz="1100" b="0">
                <a:solidFill>
                  <a:srgbClr val="212121"/>
                </a:solidFill>
              </a:defRPr>
            </a:pPr>
            <a:r>
              <a:t>     (sha256-hashed → /var/lib/fe-otp/recovery)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80160" y="4443983"/>
            <a:ext cx="0" cy="128016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5358383"/>
            <a:ext cx="7315200" cy="530352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⑦  init state:  last_step=0,  fails=0,  lock_until=0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5230368"/>
            <a:ext cx="0" cy="128015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75320" y="2240280"/>
            <a:ext cx="3474720" cy="1325880"/>
          </a:xfrm>
          <a:prstGeom prst="roundRect">
            <a:avLst/>
          </a:prstGeom>
          <a:solidFill>
            <a:srgbClr val="E1BEE7"/>
          </a:solidFill>
          <a:ln w="15875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TPM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seal target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(seed sealed to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device + PCR state)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772400" y="2926080"/>
            <a:ext cx="502920" cy="320040"/>
          </a:xfrm>
          <a:prstGeom prst="line">
            <a:avLst/>
          </a:prstGeom>
          <a:ln w="19050">
            <a:solidFill>
              <a:srgbClr val="7B1FA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75320" y="4572000"/>
            <a:ext cx="3474720" cy="1371600"/>
          </a:xfrm>
          <a:prstGeom prst="roundRect">
            <a:avLst/>
          </a:prstGeom>
          <a:solidFill>
            <a:srgbClr val="FFE0B2"/>
          </a:solidFill>
          <a:ln w="15875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Authenticator app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now shares the seed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→ generates 6-digit TOTP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every 30 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4846320"/>
            <a:ext cx="502920" cy="182880"/>
          </a:xfrm>
          <a:prstGeom prst="line">
            <a:avLst/>
          </a:prstGeom>
          <a:ln w="19050">
            <a:solidFill>
              <a:srgbClr val="E6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355"/>
                </a:solidFill>
              </a:defRPr>
            </a:pPr>
            <a:r>
              <a:t>Create FE passphrase  —  security fe create-passphrase  (init)</a:t>
            </a:r>
          </a:p>
          <a:p>
            <a:pPr>
              <a:defRPr sz="1250">
                <a:solidFill>
                  <a:srgbClr val="556677"/>
                </a:solidFill>
              </a:defRPr>
            </a:pPr>
            <a:r>
              <a:t>provision submask_B + initialize the gocryptfs store  (PIN2 only; OTP enrolled separately)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30000" cy="3175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7589520" cy="56692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①  SCLI prompts PIN2 ×2 (no echo) → piped to stdin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84832"/>
            <a:ext cx="7589520" cy="56692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②  gocryptfs-fe.sh init: read PIN2 (line 1)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1938528"/>
            <a:ext cx="0" cy="146304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2798064"/>
            <a:ext cx="7589520" cy="56692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③  tpm_setup → per-bank submask_B handle (0x81020020 / 0x81020021)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0" y="2651760"/>
            <a:ext cx="0" cy="146304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511296"/>
            <a:ext cx="7589520" cy="713232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④  if submask_B missing → provision:</a:t>
            </a:r>
          </a:p>
          <a:p>
            <a:pPr algn="l">
              <a:defRPr sz="1100" b="0">
                <a:solidFill>
                  <a:srgbClr val="212121"/>
                </a:solidFill>
              </a:defRPr>
            </a:pPr>
            <a:r>
              <a:t>     FE salt(32) + submask_B(64) → TPM-seal (salt ‖ submask_B)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80160" y="3364992"/>
            <a:ext cx="0" cy="146304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4370832"/>
            <a:ext cx="7589520" cy="56692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⑤  KEK = PBKDF2-HMAC-SHA384(PIN2, FE salt) ⊕ submask_B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4224528"/>
            <a:ext cx="0" cy="146304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5084064"/>
            <a:ext cx="7589520" cy="56692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50" b="0">
                <a:solidFill>
                  <a:srgbClr val="212121"/>
                </a:solidFill>
              </a:defRPr>
            </a:pPr>
            <a:r>
              <a:t>⑥  gocryptfs -q -init /var/.securefs     (creates store)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80160" y="4937760"/>
            <a:ext cx="0" cy="146304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03920" y="2194560"/>
            <a:ext cx="3200400" cy="22860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0">
                <a:solidFill>
                  <a:srgbClr val="212121"/>
                </a:solidFill>
              </a:defRPr>
            </a:pPr>
            <a:r>
              <a:t>Note — dual-DAR separation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FE salt is FE-specific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(sealed with submask_B),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independent of the FDE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device-wide salt.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PIN1 change does NOT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re-key FE (PIN2-only).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355"/>
                </a:solidFill>
              </a:defRPr>
            </a:pPr>
            <a:r>
              <a:t>Start  —  2FA unlock   security fe start</a:t>
            </a:r>
          </a:p>
          <a:p>
            <a:pPr>
              <a:defRPr sz="1250">
                <a:solidFill>
                  <a:srgbClr val="556677"/>
                </a:solidFill>
              </a:defRPr>
            </a:pPr>
            <a:r>
              <a:t>PIN2 + OTP → verify GATE → derive KEK → mount /securefs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30000" cy="3175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6766560" cy="566928"/>
          </a:xfrm>
          <a:prstGeom prst="roundRect">
            <a:avLst/>
          </a:prstGeom>
          <a:solidFill>
            <a:srgbClr val="BBDEFB"/>
          </a:solidFill>
          <a:ln w="15875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①  SCLI: prompt PIN2 (no echo) + OTP (no echo)</a:t>
            </a:r>
          </a:p>
          <a:p>
            <a:pPr algn="l">
              <a:defRPr sz="1050" b="0">
                <a:solidFill>
                  <a:srgbClr val="212121"/>
                </a:solidFill>
              </a:defRPr>
            </a:pPr>
            <a:r>
              <a:t>     → pipe 2 lines to  gocryptfs-fe.sh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38528"/>
            <a:ext cx="6766560" cy="457200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②  read PIN2 (line 1) → PIN2_FILE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05456"/>
            <a:ext cx="6766560" cy="548640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1">
                <a:solidFill>
                  <a:srgbClr val="212121"/>
                </a:solidFill>
              </a:defRPr>
            </a:pPr>
            <a:r>
              <a:t>③  read OTP (line 2) →  fe-otp.sh verify      [ 2FA GATE ]</a:t>
            </a:r>
          </a:p>
        </p:txBody>
      </p:sp>
      <p:sp>
        <p:nvSpPr>
          <p:cNvPr id="7" name="Diamond 6"/>
          <p:cNvSpPr/>
          <p:nvPr/>
        </p:nvSpPr>
        <p:spPr>
          <a:xfrm>
            <a:off x="2148840" y="3200400"/>
            <a:ext cx="3383280" cy="914400"/>
          </a:xfrm>
          <a:prstGeom prst="diamond">
            <a:avLst/>
          </a:prstGeom>
          <a:solidFill>
            <a:srgbClr val="FFCDD2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OTP valid?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2395728"/>
            <a:ext cx="0" cy="109728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3054096"/>
            <a:ext cx="0" cy="146304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35240" y="3246120"/>
            <a:ext cx="4069080" cy="960120"/>
          </a:xfrm>
          <a:prstGeom prst="roundRect">
            <a:avLst/>
          </a:prstGeom>
          <a:solidFill>
            <a:srgbClr val="FFCDD2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REJECT → abort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mount NOT attempted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failure counted (3 → 10-min lockout)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32120" y="3657600"/>
            <a:ext cx="2103120" cy="45720"/>
          </a:xfrm>
          <a:prstGeom prst="line">
            <a:avLst/>
          </a:prstGeom>
          <a:ln w="19050">
            <a:solidFill>
              <a:srgbClr val="D32F2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32F2F"/>
                </a:solidFill>
              </a:defRPr>
            </a:pPr>
            <a:r>
              <a:t>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34840"/>
            <a:ext cx="6766560" cy="65836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④  unseal FE blob (submask_B + FE salt);</a:t>
            </a:r>
          </a:p>
          <a:p>
            <a:pPr algn="l">
              <a:defRPr sz="1050" b="0">
                <a:solidFill>
                  <a:srgbClr val="212121"/>
                </a:solidFill>
              </a:defRPr>
            </a:pPr>
            <a:r>
              <a:t>     KEK = PBKDF2(PIN2, FE salt) ⊕ submask_B → stdout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4114800"/>
            <a:ext cx="0" cy="320040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3192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30368"/>
            <a:ext cx="6766560" cy="65836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⑤  gocryptfs -q -passfile /dev/stdin /var/.securefs /securefs</a:t>
            </a:r>
          </a:p>
          <a:p>
            <a:pPr algn="l">
              <a:defRPr sz="1050" b="0">
                <a:solidFill>
                  <a:srgbClr val="212121"/>
                </a:solidFill>
              </a:defRPr>
            </a:pPr>
            <a:r>
              <a:t>     (wrong PIN2 → mount fails)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0" y="5093208"/>
            <a:ext cx="0" cy="137160"/>
          </a:xfrm>
          <a:prstGeom prst="line">
            <a:avLst/>
          </a:prstGeom>
          <a:ln w="1651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35240" y="5074920"/>
            <a:ext cx="4069080" cy="914400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✓  /securefs mounted</a:t>
            </a:r>
          </a:p>
          <a:p>
            <a:pPr algn="ctr">
              <a:defRPr sz="1250" b="0">
                <a:solidFill>
                  <a:srgbClr val="212121"/>
                </a:solidFill>
              </a:defRPr>
            </a:pPr>
            <a:r>
              <a:t>Inner DAR available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223760" y="5532120"/>
            <a:ext cx="411480" cy="27432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355"/>
                </a:solidFill>
              </a:defRPr>
            </a:pPr>
            <a:r>
              <a:t>Key Derivation  —  FE KEK</a:t>
            </a:r>
          </a:p>
          <a:p>
            <a:pPr>
              <a:defRPr sz="1250">
                <a:solidFill>
                  <a:srgbClr val="556677"/>
                </a:solidFill>
              </a:defRPr>
            </a:pPr>
            <a:r>
              <a:t>the OTP is a GATE, not key material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30000" cy="3175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691640" cy="822960"/>
          </a:xfrm>
          <a:prstGeom prst="roundRect">
            <a:avLst/>
          </a:prstGeom>
          <a:solidFill>
            <a:srgbClr val="BBDEFB"/>
          </a:solidFill>
          <a:ln w="15875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PIN2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554480"/>
            <a:ext cx="2606040" cy="822960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PBKDF2-HMAC-SHA384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(PIN2, FE salt)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554480"/>
            <a:ext cx="1783080" cy="822960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submask_A_FE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(64B)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1965960"/>
            <a:ext cx="320040" cy="0"/>
          </a:xfrm>
          <a:prstGeom prst="line">
            <a:avLst/>
          </a:prstGeom>
          <a:ln w="1905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74920" y="1965960"/>
            <a:ext cx="365760" cy="0"/>
          </a:xfrm>
          <a:prstGeom prst="line">
            <a:avLst/>
          </a:prstGeom>
          <a:ln w="1905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977639"/>
            <a:ext cx="2788920" cy="1325880"/>
          </a:xfrm>
          <a:prstGeom prst="roundRect">
            <a:avLst/>
          </a:prstGeom>
          <a:solidFill>
            <a:srgbClr val="E1BEE7"/>
          </a:solidFill>
          <a:ln w="15875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TPM — FE blob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(FE salt ‖ submask_B)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sealed @ 0x81020020/21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PolicyNV + PolicyPCR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4160520"/>
            <a:ext cx="1783080" cy="914400"/>
          </a:xfrm>
          <a:prstGeom prst="roundRect">
            <a:avLst/>
          </a:prstGeom>
          <a:solidFill>
            <a:srgbClr val="E1BEE7"/>
          </a:solidFill>
          <a:ln w="15875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submask_B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(64B)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4617720"/>
            <a:ext cx="365760" cy="0"/>
          </a:xfrm>
          <a:prstGeom prst="line">
            <a:avLst/>
          </a:prstGeom>
          <a:ln w="19050">
            <a:solidFill>
              <a:srgbClr val="7B1FA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828800" y="2377440"/>
            <a:ext cx="1463040" cy="1600199"/>
          </a:xfrm>
          <a:prstGeom prst="line">
            <a:avLst/>
          </a:prstGeom>
          <a:ln w="16510">
            <a:solidFill>
              <a:srgbClr val="7B1FA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246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7B1FA2"/>
                </a:solidFill>
              </a:defRPr>
            </a:pPr>
            <a:r>
              <a:t>FE salt → KDF</a:t>
            </a:r>
          </a:p>
        </p:txBody>
      </p:sp>
      <p:sp>
        <p:nvSpPr>
          <p:cNvPr id="14" name="Oval 13"/>
          <p:cNvSpPr/>
          <p:nvPr/>
        </p:nvSpPr>
        <p:spPr>
          <a:xfrm>
            <a:off x="7360920" y="2971800"/>
            <a:ext cx="868680" cy="868680"/>
          </a:xfrm>
          <a:prstGeom prst="ellipse">
            <a:avLst/>
          </a:prstGeom>
          <a:solidFill>
            <a:srgbClr val="FFCDD2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2200" b="1">
                <a:solidFill>
                  <a:srgbClr val="212121"/>
                </a:solidFill>
              </a:defRPr>
            </a:pPr>
            <a:r>
              <a:t>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7648" y="2377440"/>
            <a:ext cx="1170431" cy="594360"/>
          </a:xfrm>
          <a:prstGeom prst="line">
            <a:avLst/>
          </a:prstGeom>
          <a:ln w="1778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394960" y="3840480"/>
            <a:ext cx="2240280" cy="777240"/>
          </a:xfrm>
          <a:prstGeom prst="line">
            <a:avLst/>
          </a:prstGeom>
          <a:ln w="1778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49640" y="3017520"/>
            <a:ext cx="1783080" cy="777240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500" b="1">
                <a:solidFill>
                  <a:srgbClr val="212121"/>
                </a:solidFill>
              </a:defRPr>
            </a:pPr>
            <a:r>
              <a:t>FE KEK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0" y="3401568"/>
            <a:ext cx="320040" cy="0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515600" y="3017520"/>
            <a:ext cx="1280160" cy="777240"/>
          </a:xfrm>
          <a:prstGeom prst="roundRect">
            <a:avLst/>
          </a:prstGeom>
          <a:solidFill>
            <a:srgbClr val="CFD8DC"/>
          </a:solidFill>
          <a:ln w="15875">
            <a:solidFill>
              <a:srgbClr val="546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gocryptfs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passfile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332720" y="3401568"/>
            <a:ext cx="182880" cy="0"/>
          </a:xfrm>
          <a:prstGeom prst="line">
            <a:avLst/>
          </a:prstGeom>
          <a:ln w="19050">
            <a:solidFill>
              <a:srgbClr val="546E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60920" y="4434840"/>
            <a:ext cx="4434840" cy="1600200"/>
          </a:xfrm>
          <a:prstGeom prst="roundRect">
            <a:avLst/>
          </a:prstGeom>
          <a:solidFill>
            <a:srgbClr val="FFCDD2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00" b="0">
                <a:solidFill>
                  <a:srgbClr val="212121"/>
                </a:solidFill>
              </a:defRPr>
            </a:pPr>
            <a:r>
              <a:t>OTP (TOTP) = authorization GATE (pass / fail).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It is NOT an input to the KEK.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Time-based codes change every 30 s —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they cannot be stable key material.</a:t>
            </a:r>
          </a:p>
          <a:p>
            <a:pPr algn="ctr">
              <a:defRPr sz="1050" b="0">
                <a:solidFill>
                  <a:srgbClr val="212121"/>
                </a:solidFill>
              </a:defRPr>
            </a:pPr>
          </a:p>
          <a:p>
            <a:pPr algn="ctr">
              <a:defRPr sz="1050" b="0">
                <a:solidFill>
                  <a:srgbClr val="212121"/>
                </a:solidFill>
              </a:defRPr>
            </a:pPr>
            <a:r>
              <a:t>FE salt is FE-specific → dual-DAR domain separation.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355"/>
                </a:solidFill>
              </a:defRPr>
            </a:pPr>
            <a:r>
              <a:t>OTP Verify Internals  —  fe-otp.sh verify</a:t>
            </a:r>
          </a:p>
          <a:p>
            <a:pPr>
              <a:defRPr sz="1250">
                <a:solidFill>
                  <a:srgbClr val="556677"/>
                </a:solidFill>
              </a:defRPr>
            </a:pPr>
            <a:r>
              <a:t>TOTP window  ·  replay protection  ·  recovery fallback  ·  lockout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30000" cy="3175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7040880" cy="47548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①  read entered code (stdin)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65376"/>
            <a:ext cx="7040880" cy="47548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②  lockout check:  now &lt; lock_until  → REJECT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20" y="1755648"/>
            <a:ext cx="0" cy="109728"/>
          </a:xfrm>
          <a:prstGeom prst="line">
            <a:avLst/>
          </a:prstGeom>
          <a:ln w="1524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2450592"/>
            <a:ext cx="7040880" cy="47548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③  unseal seed (TPM, per bank)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2340864"/>
            <a:ext cx="0" cy="109728"/>
          </a:xfrm>
          <a:prstGeom prst="line">
            <a:avLst/>
          </a:prstGeom>
          <a:ln w="1524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035808"/>
            <a:ext cx="7040880" cy="65836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④  TOTP compare over window w ∈ {−1, 0, +1}:</a:t>
            </a:r>
          </a:p>
          <a:p>
            <a:pPr algn="l">
              <a:defRPr sz="1050" b="0">
                <a:solidFill>
                  <a:srgbClr val="212121"/>
                </a:solidFill>
              </a:defRPr>
            </a:pPr>
            <a:r>
              <a:t>     code = HMAC-SHA1(seed, ⌊now/30⌋ + w) → 6 digits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8720" y="2926080"/>
            <a:ext cx="0" cy="109728"/>
          </a:xfrm>
          <a:prstGeom prst="line">
            <a:avLst/>
          </a:prstGeom>
          <a:ln w="1524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803904"/>
            <a:ext cx="7040880" cy="47548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⑤  replay:  matched_step &gt; last_step 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720" y="3694176"/>
            <a:ext cx="0" cy="109728"/>
          </a:xfrm>
          <a:prstGeom prst="line">
            <a:avLst/>
          </a:prstGeom>
          <a:ln w="1524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4389120"/>
            <a:ext cx="7040880" cy="47548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⑥  match &amp; fresh → ACCEPT (fails=0, store last_step)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8720" y="4279392"/>
            <a:ext cx="0" cy="109728"/>
          </a:xfrm>
          <a:prstGeom prst="line">
            <a:avLst/>
          </a:prstGeom>
          <a:ln w="1524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4974336"/>
            <a:ext cx="7040880" cy="658368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⑦  else recovery code? (10 single-use, sha256-hashed,</a:t>
            </a:r>
          </a:p>
          <a:p>
            <a:pPr algn="l">
              <a:defRPr sz="1050" b="0">
                <a:solidFill>
                  <a:srgbClr val="212121"/>
                </a:solidFill>
              </a:defRPr>
            </a:pPr>
            <a:r>
              <a:t>     consume = mark “1 &lt;hash&gt;”) → ACCEPT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720" y="4864607"/>
            <a:ext cx="0" cy="109729"/>
          </a:xfrm>
          <a:prstGeom prst="line">
            <a:avLst/>
          </a:prstGeom>
          <a:ln w="1524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5742431"/>
            <a:ext cx="7040880" cy="475488"/>
          </a:xfrm>
          <a:prstGeom prst="roundRect">
            <a:avLst/>
          </a:prstGeom>
          <a:solidFill>
            <a:srgbClr val="FFCDD2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l">
              <a:defRPr sz="1200" b="0">
                <a:solidFill>
                  <a:srgbClr val="212121"/>
                </a:solidFill>
              </a:defRPr>
            </a:pPr>
            <a:r>
              <a:t>⑧  else FAIL → fails++ ;  fails ≥ 3 → lock 10 min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720" y="5632703"/>
            <a:ext cx="0" cy="109728"/>
          </a:xfrm>
          <a:prstGeom prst="line">
            <a:avLst/>
          </a:prstGeom>
          <a:ln w="15240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26679" y="1371600"/>
            <a:ext cx="4023360" cy="13716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50" b="0">
                <a:solidFill>
                  <a:srgbClr val="212121"/>
                </a:solidFill>
              </a:defRPr>
            </a:pPr>
            <a:r>
              <a:t>TOTP parameters</a:t>
            </a:r>
          </a:p>
          <a:p>
            <a:pPr algn="ctr">
              <a:defRPr sz="1100" b="0">
                <a:solidFill>
                  <a:srgbClr val="212121"/>
                </a:solidFill>
              </a:defRPr>
            </a:pPr>
          </a:p>
          <a:p>
            <a:pPr algn="ctr">
              <a:defRPr sz="1100" b="0">
                <a:solidFill>
                  <a:srgbClr val="212121"/>
                </a:solidFill>
              </a:defRPr>
            </a:pPr>
            <a:r>
              <a:t>HMAC-SHA1 (OpenSSL FIPS provider)</a:t>
            </a:r>
          </a:p>
          <a:p>
            <a:pPr algn="ctr">
              <a:defRPr sz="1100" b="0">
                <a:solidFill>
                  <a:srgbClr val="212121"/>
                </a:solidFill>
              </a:defRPr>
            </a:pPr>
            <a:r>
              <a:t>6 digits · 30 s step · ±1 window (±30 s drift)</a:t>
            </a:r>
          </a:p>
          <a:p>
            <a:pPr algn="ctr">
              <a:defRPr sz="1100" b="0">
                <a:solidFill>
                  <a:srgbClr val="212121"/>
                </a:solidFill>
              </a:defRPr>
            </a:pPr>
            <a:r>
              <a:t>Google / Microsoft Authenticator compatible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2926080"/>
            <a:ext cx="4023360" cy="13716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50" b="0">
                <a:solidFill>
                  <a:srgbClr val="212121"/>
                </a:solidFill>
              </a:defRPr>
            </a:pPr>
            <a:r>
              <a:t>State — /var/lib/fe-otp/</a:t>
            </a:r>
          </a:p>
          <a:p>
            <a:pPr algn="ctr">
              <a:defRPr sz="1100" b="0">
                <a:solidFill>
                  <a:srgbClr val="212121"/>
                </a:solidFill>
              </a:defRPr>
            </a:pPr>
          </a:p>
          <a:p>
            <a:pPr algn="ctr">
              <a:defRPr sz="1100" b="0">
                <a:solidFill>
                  <a:srgbClr val="212121"/>
                </a:solidFill>
              </a:defRPr>
            </a:pPr>
            <a:r>
              <a:t>last_step  ·  fails  ·  lock_until  ·  recovery</a:t>
            </a:r>
          </a:p>
          <a:p>
            <a:pPr algn="ctr">
              <a:defRPr sz="1100" b="0">
                <a:solidFill>
                  <a:srgbClr val="212121"/>
                </a:solidFill>
              </a:defRPr>
            </a:pPr>
            <a:r>
              <a:t>(stored on the FDE-encrypted overlay)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4480560"/>
            <a:ext cx="4023360" cy="1371600"/>
          </a:xfrm>
          <a:prstGeom prst="roundRect">
            <a:avLst/>
          </a:prstGeom>
          <a:solidFill>
            <a:srgbClr val="FFCDD2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250" b="0">
                <a:solidFill>
                  <a:srgbClr val="212121"/>
                </a:solidFill>
              </a:defRPr>
            </a:pPr>
            <a:r>
              <a:t>Lockout state machine</a:t>
            </a:r>
          </a:p>
          <a:p>
            <a:pPr algn="ctr">
              <a:defRPr sz="1100" b="0">
                <a:solidFill>
                  <a:srgbClr val="212121"/>
                </a:solidFill>
              </a:defRPr>
            </a:pPr>
          </a:p>
          <a:p>
            <a:pPr algn="ctr">
              <a:defRPr sz="1100" b="0">
                <a:solidFill>
                  <a:srgbClr val="212121"/>
                </a:solidFill>
              </a:defRPr>
            </a:pPr>
            <a:r>
              <a:t>ACCEPT → fails = 0</a:t>
            </a:r>
          </a:p>
          <a:p>
            <a:pPr algn="ctr">
              <a:defRPr sz="1100" b="0">
                <a:solidFill>
                  <a:srgbClr val="212121"/>
                </a:solidFill>
              </a:defRPr>
            </a:pPr>
            <a:r>
              <a:t>FAIL → fails++</a:t>
            </a:r>
          </a:p>
          <a:p>
            <a:pPr algn="ctr">
              <a:defRPr sz="1100" b="0">
                <a:solidFill>
                  <a:srgbClr val="212121"/>
                </a:solidFill>
              </a:defRPr>
            </a:pPr>
            <a:r>
              <a:t>fails ≥ 3 → lock_until = now + 600 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F3355"/>
                </a:solidFill>
              </a:defRPr>
            </a:pPr>
            <a:r>
              <a:t>OTA  —  Reseal OTP seed across A/B banks</a:t>
            </a:r>
          </a:p>
          <a:p>
            <a:pPr>
              <a:defRPr sz="1250">
                <a:solidFill>
                  <a:srgbClr val="556677"/>
                </a:solidFill>
              </a:defRPr>
            </a:pPr>
            <a:r>
              <a:t>pcr-predict-reseal.sh --reseal-extras  (runs during update)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30000" cy="3175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2743200" cy="1188720"/>
          </a:xfrm>
          <a:prstGeom prst="roundRect">
            <a:avLst/>
          </a:prstGeom>
          <a:solidFill>
            <a:srgbClr val="E1BEE7"/>
          </a:solidFill>
          <a:ln w="15875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current bank</a:t>
            </a:r>
          </a:p>
          <a:p>
            <a:pPr algn="ctr">
              <a:defRPr sz="1150" b="0">
                <a:solidFill>
                  <a:srgbClr val="212121"/>
                </a:solidFill>
              </a:defRPr>
            </a:pPr>
            <a:r>
              <a:t>OTP seed handle</a:t>
            </a:r>
          </a:p>
          <a:p>
            <a:pPr algn="ctr">
              <a:defRPr sz="1150" b="0">
                <a:solidFill>
                  <a:srgbClr val="212121"/>
                </a:solidFill>
              </a:defRPr>
            </a:pPr>
            <a:r>
              <a:t>0x81020022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331720"/>
            <a:ext cx="3017520" cy="1463040"/>
          </a:xfrm>
          <a:prstGeom prst="roundRect">
            <a:avLst/>
          </a:prstGeom>
          <a:solidFill>
            <a:srgbClr val="C8E6C9"/>
          </a:solidFill>
          <a:ln w="15875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predict target-bank</a:t>
            </a:r>
          </a:p>
          <a:p>
            <a:pPr algn="ctr">
              <a:defRPr sz="1150" b="0">
                <a:solidFill>
                  <a:srgbClr val="212121"/>
                </a:solidFill>
              </a:defRPr>
            </a:pPr>
            <a:r>
              <a:t>PCR digest</a:t>
            </a:r>
          </a:p>
          <a:p>
            <a:pPr algn="ctr">
              <a:defRPr sz="1150" b="0">
                <a:solidFill>
                  <a:srgbClr val="212121"/>
                </a:solidFill>
              </a:defRPr>
            </a:pPr>
            <a:r>
              <a:t>+ reseal</a:t>
            </a:r>
          </a:p>
          <a:p>
            <a:pPr algn="ctr">
              <a:defRPr sz="1150" b="0">
                <a:solidFill>
                  <a:srgbClr val="212121"/>
                </a:solidFill>
              </a:defRPr>
            </a:pPr>
            <a:r>
              <a:t>(PolicyNV + PolicyPCR)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2468880"/>
            <a:ext cx="2743200" cy="1188720"/>
          </a:xfrm>
          <a:prstGeom prst="roundRect">
            <a:avLst/>
          </a:prstGeom>
          <a:solidFill>
            <a:srgbClr val="E1BEE7"/>
          </a:solidFill>
          <a:ln w="15875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target bank</a:t>
            </a:r>
          </a:p>
          <a:p>
            <a:pPr algn="ctr">
              <a:defRPr sz="1150" b="0">
                <a:solidFill>
                  <a:srgbClr val="212121"/>
                </a:solidFill>
              </a:defRPr>
            </a:pPr>
            <a:r>
              <a:t>OTP seed handle</a:t>
            </a:r>
          </a:p>
          <a:p>
            <a:pPr algn="ctr">
              <a:defRPr sz="1150" b="0">
                <a:solidFill>
                  <a:srgbClr val="212121"/>
                </a:solidFill>
              </a:defRPr>
            </a:pPr>
            <a:r>
              <a:t>0x81020023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0" y="3063240"/>
            <a:ext cx="1188720" cy="0"/>
          </a:xfrm>
          <a:prstGeom prst="line">
            <a:avLst/>
          </a:prstGeom>
          <a:ln w="22225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89520" y="3063240"/>
            <a:ext cx="1188720" cy="0"/>
          </a:xfrm>
          <a:prstGeom prst="line">
            <a:avLst/>
          </a:prstGeom>
          <a:ln w="22225">
            <a:solidFill>
              <a:srgbClr val="21212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63040" y="4480560"/>
            <a:ext cx="9235440" cy="128016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>
              <a:defRPr sz="1300" b="0">
                <a:solidFill>
                  <a:srgbClr val="212121"/>
                </a:solidFill>
              </a:defRPr>
            </a:pPr>
            <a:r>
              <a:t>Resealed together with: gocryptfs submask_B (0x81020020/21) + VPN pin / psk / ppk.</a:t>
            </a:r>
          </a:p>
          <a:p>
            <a:pPr algn="ctr">
              <a:defRPr sz="1150" b="0">
                <a:solidFill>
                  <a:srgbClr val="212121"/>
                </a:solidFill>
              </a:defRPr>
            </a:pPr>
            <a:r>
              <a:t>reseal_extra_handle auto-skips on the grey variant (handle absent).</a:t>
            </a:r>
          </a:p>
          <a:p>
            <a:pPr algn="ctr">
              <a:defRPr sz="1150" b="0">
                <a:solidFill>
                  <a:srgbClr val="212121"/>
                </a:solidFill>
              </a:defRPr>
            </a:pPr>
            <a:r>
              <a:t>Keeps the 2FA seed usable after an A/B firmware switch — enrollment survives OTA.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